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191D22"/>
                </a:solidFill>
                <a:latin typeface="Aptos Display"/>
              </a:defRPr>
            </a:pPr>
            <a:r>
              <a:t>MAC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C5CA0"/>
                </a:solidFill>
                <a:latin typeface="Aptos"/>
              </a:defRPr>
            </a:pPr>
            <a:r>
              <a:t>Beginner Networking Lesson</a:t>
            </a:r>
          </a:p>
          <a:p>
            <a:pPr algn="ctr">
              <a:defRPr sz="2000">
                <a:solidFill>
                  <a:srgbClr val="55585C"/>
                </a:solidFill>
                <a:latin typeface="Aptos"/>
              </a:defRPr>
            </a:pPr>
            <a:r>
              <a:t>What a MAC address is, how it looks, and why we use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2. What Is a MAC Address?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1">
                <a:solidFill>
                  <a:srgbClr val="1C5CA0"/>
                </a:solidFill>
                <a:latin typeface="Aptos"/>
              </a:defRPr>
            </a:pPr>
            <a:r>
              <a:t>MAC stands for Media Access Control.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A MAC address is a Layer 2 address associated with a network interface.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It helps identify an interface during communication on a local network.</a:t>
            </a:r>
          </a:p>
          <a:p>
            <a:pPr>
              <a:spcAft>
                <a:spcPts val="1100"/>
              </a:spcAft>
              <a:defRPr sz="2100" b="1">
                <a:solidFill>
                  <a:srgbClr val="26764F"/>
                </a:solidFill>
                <a:latin typeface="Aptos"/>
              </a:defRPr>
            </a:pPr>
            <a:r>
              <a:t>Example: 00:1A:2B:3C:4D:5E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3. Which Devices Have MAC Addresses?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91D22"/>
                </a:solidFill>
                <a:latin typeface="Aptos"/>
              </a:defRPr>
            </a:pPr>
            <a:r>
              <a:t>Laptop → technically, its Wi-Fi/Ethernet interface has the MAC address.</a:t>
            </a:r>
          </a:p>
          <a:p>
            <a:pPr>
              <a:spcAft>
                <a:spcPts val="1100"/>
              </a:spcAft>
              <a:defRPr sz="1900" b="0">
                <a:solidFill>
                  <a:srgbClr val="191D22"/>
                </a:solidFill>
                <a:latin typeface="Aptos"/>
              </a:defRPr>
            </a:pPr>
            <a:r>
              <a:t>Phone → its Wi-Fi interface has a MAC address.</a:t>
            </a:r>
          </a:p>
          <a:p>
            <a:pPr>
              <a:spcAft>
                <a:spcPts val="1100"/>
              </a:spcAft>
              <a:defRPr sz="1900" b="0">
                <a:solidFill>
                  <a:srgbClr val="191D22"/>
                </a:solidFill>
                <a:latin typeface="Aptos"/>
              </a:defRPr>
            </a:pPr>
            <a:r>
              <a:t>Router → its individual Ethernet/Wi-Fi interfaces can have MAC addresses.</a:t>
            </a:r>
          </a:p>
          <a:p>
            <a:pPr>
              <a:spcAft>
                <a:spcPts val="1100"/>
              </a:spcAft>
              <a:defRPr sz="1900" b="0">
                <a:solidFill>
                  <a:srgbClr val="191D22"/>
                </a:solidFill>
                <a:latin typeface="Aptos"/>
              </a:defRPr>
            </a:pPr>
            <a:r>
              <a:t>VM → its virtual NIC has a MAC address.</a:t>
            </a:r>
          </a:p>
          <a:p>
            <a:pPr>
              <a:spcAft>
                <a:spcPts val="1100"/>
              </a:spcAft>
              <a:defRPr sz="1900" b="0">
                <a:solidFill>
                  <a:srgbClr val="191D22"/>
                </a:solidFill>
                <a:latin typeface="Aptos"/>
              </a:defRPr>
            </a:pPr>
            <a:r>
              <a:t>Switch → its own relevant interfaces/logical interfaces can have MAC addresses.</a:t>
            </a:r>
          </a:p>
          <a:p>
            <a:pPr>
              <a:spcAft>
                <a:spcPts val="1100"/>
              </a:spcAft>
              <a:defRPr sz="1900" b="1">
                <a:solidFill>
                  <a:srgbClr val="1C5CA0"/>
                </a:solidFill>
                <a:latin typeface="Aptos"/>
              </a:defRPr>
            </a:pPr>
            <a:r>
              <a:t>Important: the MAC address is associated with the network interface, not simply the whole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4. Special MAC Addresses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1">
                <a:solidFill>
                  <a:srgbClr val="1C5CA0"/>
                </a:solidFill>
                <a:latin typeface="Aptos"/>
              </a:defRPr>
            </a:pPr>
            <a:r>
              <a:t>Not every MAC address identifies one individual interface.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Some MAC addresses are special addresses used for particular types of communication.</a:t>
            </a:r>
          </a:p>
          <a:p>
            <a:pPr>
              <a:spcAft>
                <a:spcPts val="1100"/>
              </a:spcAft>
              <a:defRPr sz="2100" b="1">
                <a:solidFill>
                  <a:srgbClr val="191D22"/>
                </a:solidFill>
                <a:latin typeface="Aptos"/>
              </a:defRPr>
            </a:pPr>
            <a:r>
              <a:t>Ethernet broadcast address:</a:t>
            </a:r>
          </a:p>
          <a:p>
            <a:pPr>
              <a:spcAft>
                <a:spcPts val="1100"/>
              </a:spcAft>
              <a:defRPr sz="2100" b="1">
                <a:solidFill>
                  <a:srgbClr val="B03A3A"/>
                </a:solidFill>
                <a:latin typeface="Aptos"/>
              </a:defRPr>
            </a:pPr>
            <a:r>
              <a:t>FF:FF:FF:FF:FF:FF</a:t>
            </a:r>
          </a:p>
          <a:p>
            <a:pPr>
              <a:spcAft>
                <a:spcPts val="1100"/>
              </a:spcAft>
              <a:defRPr sz="2100" b="0">
                <a:solidFill>
                  <a:srgbClr val="674696"/>
                </a:solidFill>
                <a:latin typeface="Aptos"/>
              </a:defRPr>
            </a:pPr>
            <a:r>
              <a:t>This address represents a broadcast to devices on the local Layer 2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5. MAC Address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1">
                <a:solidFill>
                  <a:srgbClr val="1C5CA0"/>
                </a:solidFill>
                <a:latin typeface="Aptos"/>
              </a:defRPr>
            </a:pPr>
            <a:r>
              <a:t>A standard MAC address is 48 bits long.</a:t>
            </a:r>
          </a:p>
          <a:p>
            <a:pPr>
              <a:spcAft>
                <a:spcPts val="1100"/>
              </a:spcAft>
              <a:defRPr sz="2100" b="1">
                <a:solidFill>
                  <a:srgbClr val="26764F"/>
                </a:solidFill>
                <a:latin typeface="Aptos"/>
              </a:defRPr>
            </a:pPr>
            <a:r>
              <a:t>48 bits = 6 bytes.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It is usually written as 12 hexadecimal digits.</a:t>
            </a:r>
          </a:p>
          <a:p>
            <a:pPr>
              <a:spcAft>
                <a:spcPts val="1100"/>
              </a:spcAft>
              <a:defRPr sz="2100" b="1">
                <a:solidFill>
                  <a:srgbClr val="674696"/>
                </a:solidFill>
                <a:latin typeface="Aptos"/>
              </a:defRPr>
            </a:pPr>
            <a:r>
              <a:t>00 : 1A : 2B : 3C : 4D : 5E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Each pair represents one byte.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6. Hexadecimal in a MAC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1">
                <a:solidFill>
                  <a:srgbClr val="1C5CA0"/>
                </a:solidFill>
                <a:latin typeface="Aptos"/>
              </a:defRPr>
            </a:pPr>
            <a:r>
              <a:t>Hexadecimal uses 16 symbols: 0–9 and A–F.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One hexadecimal digit represents 4 bits.</a:t>
            </a:r>
          </a:p>
          <a:p>
            <a:pPr>
              <a:spcAft>
                <a:spcPts val="1100"/>
              </a:spcAft>
              <a:defRPr sz="2100" b="1">
                <a:solidFill>
                  <a:srgbClr val="26764F"/>
                </a:solidFill>
                <a:latin typeface="Aptos"/>
              </a:defRPr>
            </a:pPr>
            <a:r>
              <a:t>Two hexadecimal digits represent 8 bits = 1 byte.</a:t>
            </a:r>
          </a:p>
          <a:p>
            <a:pPr>
              <a:spcAft>
                <a:spcPts val="1100"/>
              </a:spcAft>
              <a:defRPr sz="2100" b="0">
                <a:solidFill>
                  <a:srgbClr val="674696"/>
                </a:solidFill>
                <a:latin typeface="Aptos"/>
              </a:defRPr>
            </a:pPr>
            <a:r>
              <a:t>That is why a 6-byte MAC address is commonly written using 12 hexadecimal digits.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7. Manufacturer Portion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1">
                <a:solidFill>
                  <a:srgbClr val="1C5CA0"/>
                </a:solidFill>
                <a:latin typeface="Aptos"/>
              </a:defRPr>
            </a:pPr>
            <a:r>
              <a:t>A traditional manufacturer-assigned MAC address contains an organization/manufacturer portion.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Example for learning:</a:t>
            </a:r>
          </a:p>
          <a:p>
            <a:pPr>
              <a:spcAft>
                <a:spcPts val="1100"/>
              </a:spcAft>
              <a:defRPr sz="2100" b="1">
                <a:solidFill>
                  <a:srgbClr val="26764F"/>
                </a:solidFill>
                <a:latin typeface="Aptos"/>
              </a:defRPr>
            </a:pPr>
            <a:r>
              <a:t>00:1A:2B : 3C:4D:5E</a:t>
            </a:r>
          </a:p>
          <a:p>
            <a:pPr>
              <a:spcAft>
                <a:spcPts val="1100"/>
              </a:spcAft>
              <a:defRPr sz="2100" b="1">
                <a:solidFill>
                  <a:srgbClr val="674696"/>
                </a:solidFill>
                <a:latin typeface="Aptos"/>
              </a:defRPr>
            </a:pPr>
            <a:r>
              <a:t>The first 3 bytes are traditionally associated with the organization/manufacturer assignment.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The remaining 3 bytes help identify the individual interface within that assignment.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8. MAC Address vs IP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1">
                <a:solidFill>
                  <a:srgbClr val="1C5CA0"/>
                </a:solidFill>
                <a:latin typeface="Aptos"/>
              </a:defRPr>
            </a:pPr>
            <a:r>
              <a:t>MAC address and IP address are not the same thing.</a:t>
            </a:r>
          </a:p>
          <a:p>
            <a:pPr>
              <a:spcAft>
                <a:spcPts val="1100"/>
              </a:spcAft>
              <a:defRPr sz="2100" b="1">
                <a:solidFill>
                  <a:srgbClr val="26764F"/>
                </a:solidFill>
                <a:latin typeface="Aptos"/>
              </a:defRPr>
            </a:pPr>
            <a:r>
              <a:t>MAC example: 00:1A:2B:3C:4D:5E</a:t>
            </a:r>
          </a:p>
          <a:p>
            <a:pPr>
              <a:spcAft>
                <a:spcPts val="1100"/>
              </a:spcAft>
              <a:defRPr sz="2100" b="1">
                <a:solidFill>
                  <a:srgbClr val="674696"/>
                </a:solidFill>
                <a:latin typeface="Aptos"/>
              </a:defRPr>
            </a:pPr>
            <a:r>
              <a:t>IP example: 192.168.1.10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For now: MAC is a Layer 2 address; IP is a Layer 3 logical address.</a:t>
            </a:r>
          </a:p>
          <a:p>
            <a:pPr>
              <a:spcAft>
                <a:spcPts val="1100"/>
              </a:spcAft>
              <a:defRPr sz="2100" b="0">
                <a:solidFill>
                  <a:srgbClr val="55585C"/>
                </a:solidFill>
                <a:latin typeface="Aptos"/>
              </a:defRPr>
            </a:pPr>
            <a:r>
              <a:t>We will connect these ideas more deeply in later lessons.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9. MAC Address in an Ethernet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1">
                <a:solidFill>
                  <a:srgbClr val="1C5CA0"/>
                </a:solidFill>
                <a:latin typeface="Aptos"/>
              </a:defRPr>
            </a:pPr>
            <a:r>
              <a:t>In Part 3, we learned that Ethernet uses frames.</a:t>
            </a:r>
          </a:p>
          <a:p>
            <a:pPr>
              <a:spcAft>
                <a:spcPts val="1100"/>
              </a:spcAft>
              <a:defRPr sz="2100" b="1">
                <a:solidFill>
                  <a:srgbClr val="26764F"/>
                </a:solidFill>
                <a:latin typeface="Aptos"/>
              </a:defRPr>
            </a:pPr>
            <a:r>
              <a:t>An Ethernet frame contains a source MAC address.</a:t>
            </a:r>
          </a:p>
          <a:p>
            <a:pPr>
              <a:spcAft>
                <a:spcPts val="1100"/>
              </a:spcAft>
              <a:defRPr sz="2100" b="1">
                <a:solidFill>
                  <a:srgbClr val="674696"/>
                </a:solidFill>
                <a:latin typeface="Aptos"/>
              </a:defRPr>
            </a:pPr>
            <a:r>
              <a:t>It also contains a destination MAC address.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Source MAC → where the frame came from on the local link.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Destination MAC → where the frame is being sent on the local link.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10. Find a MAC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1">
                <a:solidFill>
                  <a:srgbClr val="1C5CA0"/>
                </a:solidFill>
                <a:latin typeface="Aptos"/>
              </a:defRPr>
            </a:pPr>
            <a:r>
              <a:t>Windows: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Open Command Prompt and run:  ipconfig /all</a:t>
            </a:r>
          </a:p>
          <a:p>
            <a:pPr>
              <a:spcAft>
                <a:spcPts val="1100"/>
              </a:spcAft>
              <a:defRPr sz="2100" b="1">
                <a:solidFill>
                  <a:srgbClr val="26764F"/>
                </a:solidFill>
                <a:latin typeface="Aptos"/>
              </a:defRPr>
            </a:pPr>
            <a:r>
              <a:t>Look for: Physical Address</a:t>
            </a:r>
          </a:p>
          <a:p>
            <a:pPr>
              <a:spcAft>
                <a:spcPts val="1100"/>
              </a:spcAft>
              <a:defRPr sz="2100" b="1">
                <a:solidFill>
                  <a:srgbClr val="1C5CA0"/>
                </a:solidFill>
                <a:latin typeface="Aptos"/>
              </a:defRPr>
            </a:pPr>
            <a:r>
              <a:t>Wireshark:</a:t>
            </a:r>
          </a:p>
          <a:p>
            <a:pPr>
              <a:spcAft>
                <a:spcPts val="1100"/>
              </a:spcAft>
              <a:defRPr sz="2100" b="0">
                <a:solidFill>
                  <a:srgbClr val="191D22"/>
                </a:solidFill>
                <a:latin typeface="Aptos"/>
              </a:defRPr>
            </a:pPr>
            <a:r>
              <a:t>Expand Ethernet II and look at Source and Destination.</a:t>
            </a:r>
          </a:p>
          <a:p>
            <a:pPr>
              <a:spcAft>
                <a:spcPts val="1100"/>
              </a:spcAft>
              <a:defRPr sz="2100" b="1">
                <a:solidFill>
                  <a:srgbClr val="674696"/>
                </a:solidFill>
                <a:latin typeface="Aptos"/>
              </a:defRPr>
            </a:pPr>
            <a:r>
              <a:t>This lets us see MAC addresses in real network traffic.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1D22"/>
                </a:solidFill>
                <a:latin typeface="Aptos Display"/>
              </a:defRPr>
            </a:pPr>
            <a:r>
              <a:t>11. MAC Address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190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55585C"/>
                </a:solidFill>
                <a:latin typeface="Aptos"/>
              </a:defRPr>
            </a:pPr>
            <a:r>
              <a:t>PrempehTech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1C5CA0"/>
                </a:solidFill>
                <a:latin typeface="Aptos"/>
              </a:defRPr>
            </a:pPr>
            <a:r>
              <a:t>MAC = Media Access Control.</a:t>
            </a:r>
          </a:p>
          <a:p>
            <a:pPr>
              <a:spcAft>
                <a:spcPts val="1100"/>
              </a:spcAft>
              <a:defRPr sz="1900" b="0">
                <a:solidFill>
                  <a:srgbClr val="191D22"/>
                </a:solidFill>
                <a:latin typeface="Aptos"/>
              </a:defRPr>
            </a:pPr>
            <a:r>
              <a:t>A standard MAC address is 48 bits = 6 bytes.</a:t>
            </a:r>
          </a:p>
          <a:p>
            <a:pPr>
              <a:spcAft>
                <a:spcPts val="1100"/>
              </a:spcAft>
              <a:defRPr sz="1900" b="0">
                <a:solidFill>
                  <a:srgbClr val="191D22"/>
                </a:solidFill>
                <a:latin typeface="Aptos"/>
              </a:defRPr>
            </a:pPr>
            <a:r>
              <a:t>MAC addresses are normally written in hexadecimal.</a:t>
            </a:r>
          </a:p>
          <a:p>
            <a:pPr>
              <a:spcAft>
                <a:spcPts val="1100"/>
              </a:spcAft>
              <a:defRPr sz="1900" b="1">
                <a:solidFill>
                  <a:srgbClr val="26764F"/>
                </a:solidFill>
                <a:latin typeface="Aptos"/>
              </a:defRPr>
            </a:pPr>
            <a:r>
              <a:t>MAC addresses are generally associated with network interfaces.</a:t>
            </a:r>
          </a:p>
          <a:p>
            <a:pPr>
              <a:spcAft>
                <a:spcPts val="1100"/>
              </a:spcAft>
              <a:defRPr sz="1900" b="1">
                <a:solidFill>
                  <a:srgbClr val="674696"/>
                </a:solidFill>
                <a:latin typeface="Aptos"/>
              </a:defRPr>
            </a:pPr>
            <a:r>
              <a:t>Manufacturer-assigned MAC addresses traditionally contain an organization/manufacturer portion.</a:t>
            </a:r>
          </a:p>
          <a:p>
            <a:pPr>
              <a:spcAft>
                <a:spcPts val="1100"/>
              </a:spcAft>
              <a:defRPr sz="1900" b="1">
                <a:solidFill>
                  <a:srgbClr val="B03A3A"/>
                </a:solidFill>
                <a:latin typeface="Aptos"/>
              </a:defRPr>
            </a:pPr>
            <a:r>
              <a:t>Special addresses also exist, such as FF:FF:FF:FF:FF:FF for Ethernet broadcast.</a:t>
            </a:r>
          </a:p>
          <a:p>
            <a:pPr>
              <a:spcAft>
                <a:spcPts val="1100"/>
              </a:spcAft>
              <a:defRPr sz="1900" b="1">
                <a:solidFill>
                  <a:srgbClr val="1C5CA0"/>
                </a:solidFill>
                <a:latin typeface="Aptos"/>
              </a:defRPr>
            </a:pPr>
            <a:r>
              <a:t>Next lesson: ARP.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